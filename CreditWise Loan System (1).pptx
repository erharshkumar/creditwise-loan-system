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0" r:id="rId9"/>
    <p:sldId id="264" r:id="rId10"/>
    <p:sldId id="265" r:id="rId11"/>
    <p:sldId id="271" r:id="rId12"/>
    <p:sldId id="267" r:id="rId13"/>
    <p:sldId id="268" r:id="rId14"/>
    <p:sldId id="269" r:id="rId15"/>
  </p:sldIdLst>
  <p:sldSz cx="12192000" cy="6858000"/>
  <p:notesSz cx="6858000" cy="9144000"/>
  <p:embeddedFontLst>
    <p:embeddedFont>
      <p:font typeface="Lato" panose="020F0502020204030203" pitchFamily="34" charset="0"/>
      <p:regular r:id="rId17"/>
      <p:bold r:id="rId18"/>
      <p:italic r:id="rId19"/>
      <p:boldItalic r:id="rId20"/>
    </p:embeddedFont>
    <p:embeddedFont>
      <p:font typeface="Poppins" panose="00000500000000000000" pitchFamily="2" charset="0"/>
      <p:regular r:id="rId21"/>
      <p:bold r:id="rId22"/>
      <p:italic r:id="rId23"/>
      <p:boldItalic r:id="rId24"/>
    </p:embeddedFont>
    <p:embeddedFont>
      <p:font typeface="Poppins SemiBold" panose="00000700000000000000" pitchFamily="2" charset="0"/>
      <p:regular r:id="rId25"/>
      <p:bold r:id="rId26"/>
      <p:italic r:id="rId27"/>
      <p:bold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70B05FA-A71E-40D1-A715-4E6A340906E4}">
  <a:tblStyle styleId="{C70B05FA-A71E-40D1-A715-4E6A340906E4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f17e22588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f17e22588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f17e22588c_0_1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f17e22588c_0_1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8" name="Google Shape;29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f17e22588c_0_5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3f17e22588c_0_5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f17e22588c_0_6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" name="Google Shape;331;g3f17e22588c_0_6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345406" y="2383184"/>
            <a:ext cx="9501187" cy="796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7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CreditWise </a:t>
            </a:r>
            <a:r>
              <a:rPr lang="en-US" sz="5700" b="1" i="0" u="none" strike="noStrike" cap="none">
                <a:solidFill>
                  <a:srgbClr val="1D4ED8"/>
                </a:solidFill>
                <a:latin typeface="Poppins"/>
                <a:ea typeface="Poppins"/>
                <a:cs typeface="Poppins"/>
                <a:sym typeface="Poppins"/>
              </a:rPr>
              <a:t>Loan System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1571625" y="3369915"/>
            <a:ext cx="90487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An End-to-End Machine Learning Pipeline for Automated, Unbiased Loan Approvals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" name="Google Shape;91;p14"/>
          <p:cNvGrpSpPr/>
          <p:nvPr/>
        </p:nvGrpSpPr>
        <p:grpSpPr>
          <a:xfrm>
            <a:off x="952500" y="571500"/>
            <a:ext cx="10287000" cy="762000"/>
            <a:chOff x="0" y="0"/>
            <a:chExt cx="10287000" cy="762000"/>
          </a:xfrm>
        </p:grpSpPr>
        <p:sp>
          <p:nvSpPr>
            <p:cNvPr id="92" name="Google Shape;92;p14"/>
            <p:cNvSpPr txBox="1"/>
            <p:nvPr/>
          </p:nvSpPr>
          <p:spPr>
            <a:xfrm>
              <a:off x="0" y="0"/>
              <a:ext cx="10287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300" b="1">
                  <a:solidFill>
                    <a:srgbClr val="0F172A"/>
                  </a:solidFill>
                  <a:latin typeface="Poppins"/>
                  <a:ea typeface="Poppins"/>
                  <a:cs typeface="Poppins"/>
                  <a:sym typeface="Poppins"/>
                </a:rPr>
                <a:t>Project Summary</a:t>
              </a:r>
              <a:endParaRPr sz="3300" b="1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93" name="Google Shape;93;p14"/>
            <p:cNvSpPr/>
            <p:nvPr/>
          </p:nvSpPr>
          <p:spPr>
            <a:xfrm>
              <a:off x="0" y="666750"/>
              <a:ext cx="2857500" cy="38100"/>
            </a:xfrm>
            <a:prstGeom prst="rect">
              <a:avLst/>
            </a:prstGeom>
            <a:solidFill>
              <a:srgbClr val="1D4ED8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4" name="Google Shape;94;p14"/>
          <p:cNvSpPr txBox="1"/>
          <p:nvPr/>
        </p:nvSpPr>
        <p:spPr>
          <a:xfrm>
            <a:off x="952500" y="1714500"/>
            <a:ext cx="4762500" cy="28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CreditWise is an end-to-end Machine Learning system that predicts whether a loan application should be approved or rejected, based on an applicant's financial and personal profile. It helps financial institutions make faster, more accurate, and data-driven lending decisions — while reducing the risk of default.</a:t>
            </a:r>
            <a:endParaRPr sz="1400">
              <a:solidFill>
                <a:srgbClr val="1E293B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15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The project demonstrates the complete ML lifecycle — from data preprocessing and exploratory analysis to model building, evaluation, and a deployment-ready prediction pipeline.</a:t>
            </a:r>
            <a:endParaRPr sz="1400">
              <a:solidFill>
                <a:srgbClr val="1E293B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95" name="Google Shape;95;p14"/>
          <p:cNvGrpSpPr/>
          <p:nvPr/>
        </p:nvGrpSpPr>
        <p:grpSpPr>
          <a:xfrm>
            <a:off x="6191250" y="1714500"/>
            <a:ext cx="2190900" cy="1143000"/>
            <a:chOff x="0" y="0"/>
            <a:chExt cx="2190900" cy="1143000"/>
          </a:xfrm>
        </p:grpSpPr>
        <p:sp>
          <p:nvSpPr>
            <p:cNvPr id="96" name="Google Shape;96;p14"/>
            <p:cNvSpPr/>
            <p:nvPr/>
          </p:nvSpPr>
          <p:spPr>
            <a:xfrm>
              <a:off x="0" y="0"/>
              <a:ext cx="2190900" cy="1143000"/>
            </a:xfrm>
            <a:prstGeom prst="roundRect">
              <a:avLst>
                <a:gd name="adj" fmla="val 10000"/>
              </a:avLst>
            </a:prstGeom>
            <a:solidFill>
              <a:srgbClr val="E2E8F0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14"/>
            <p:cNvSpPr txBox="1"/>
            <p:nvPr/>
          </p:nvSpPr>
          <p:spPr>
            <a:xfrm>
              <a:off x="0" y="0"/>
              <a:ext cx="21909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 b="1">
                  <a:solidFill>
                    <a:srgbClr val="1D4ED8"/>
                  </a:solidFill>
                  <a:latin typeface="Poppins"/>
                  <a:ea typeface="Poppins"/>
                  <a:cs typeface="Poppins"/>
                  <a:sym typeface="Poppins"/>
                </a:rPr>
                <a:t>6</a:t>
              </a:r>
              <a:endParaRPr sz="3600" b="1">
                <a:solidFill>
                  <a:srgbClr val="1D4ED8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ML Algorithms Compared</a:t>
              </a:r>
              <a:endParaRPr sz="1100" b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98" name="Google Shape;98;p14"/>
          <p:cNvGrpSpPr/>
          <p:nvPr/>
        </p:nvGrpSpPr>
        <p:grpSpPr>
          <a:xfrm>
            <a:off x="8667750" y="1714500"/>
            <a:ext cx="2190900" cy="1143000"/>
            <a:chOff x="0" y="0"/>
            <a:chExt cx="2190900" cy="1143000"/>
          </a:xfrm>
        </p:grpSpPr>
        <p:sp>
          <p:nvSpPr>
            <p:cNvPr id="99" name="Google Shape;99;p14"/>
            <p:cNvSpPr/>
            <p:nvPr/>
          </p:nvSpPr>
          <p:spPr>
            <a:xfrm>
              <a:off x="0" y="0"/>
              <a:ext cx="2190900" cy="1143000"/>
            </a:xfrm>
            <a:prstGeom prst="roundRect">
              <a:avLst>
                <a:gd name="adj" fmla="val 10000"/>
              </a:avLst>
            </a:prstGeom>
            <a:solidFill>
              <a:srgbClr val="E2E8F0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14"/>
            <p:cNvSpPr txBox="1"/>
            <p:nvPr/>
          </p:nvSpPr>
          <p:spPr>
            <a:xfrm>
              <a:off x="0" y="0"/>
              <a:ext cx="21909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rgbClr val="0F172A"/>
                  </a:solidFill>
                  <a:latin typeface="Poppins"/>
                  <a:ea typeface="Poppins"/>
                  <a:cs typeface="Poppins"/>
                  <a:sym typeface="Poppins"/>
                </a:rPr>
                <a:t>End-to-End</a:t>
              </a:r>
              <a:endParaRPr sz="1800" b="1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Pipeline: Data → Deployment</a:t>
              </a:r>
              <a:endParaRPr sz="1100" b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101" name="Google Shape;101;p14"/>
          <p:cNvGrpSpPr/>
          <p:nvPr/>
        </p:nvGrpSpPr>
        <p:grpSpPr>
          <a:xfrm>
            <a:off x="6191250" y="3143250"/>
            <a:ext cx="2190900" cy="1143000"/>
            <a:chOff x="0" y="0"/>
            <a:chExt cx="2190900" cy="1143000"/>
          </a:xfrm>
        </p:grpSpPr>
        <p:sp>
          <p:nvSpPr>
            <p:cNvPr id="102" name="Google Shape;102;p14"/>
            <p:cNvSpPr/>
            <p:nvPr/>
          </p:nvSpPr>
          <p:spPr>
            <a:xfrm>
              <a:off x="0" y="0"/>
              <a:ext cx="2190900" cy="1143000"/>
            </a:xfrm>
            <a:prstGeom prst="roundRect">
              <a:avLst>
                <a:gd name="adj" fmla="val 10000"/>
              </a:avLst>
            </a:prstGeom>
            <a:solidFill>
              <a:srgbClr val="E2E8F0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14"/>
            <p:cNvSpPr txBox="1"/>
            <p:nvPr/>
          </p:nvSpPr>
          <p:spPr>
            <a:xfrm>
              <a:off x="0" y="0"/>
              <a:ext cx="21909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rgbClr val="0F172A"/>
                  </a:solidFill>
                  <a:latin typeface="Poppins"/>
                  <a:ea typeface="Poppins"/>
                  <a:cs typeface="Poppins"/>
                  <a:sym typeface="Poppins"/>
                </a:rPr>
                <a:t>SHAP-Ready</a:t>
              </a:r>
              <a:endParaRPr sz="1800" b="1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Explainable Predictions</a:t>
              </a:r>
              <a:endParaRPr sz="1100" b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104" name="Google Shape;104;p14"/>
          <p:cNvGrpSpPr/>
          <p:nvPr/>
        </p:nvGrpSpPr>
        <p:grpSpPr>
          <a:xfrm>
            <a:off x="8667750" y="3143250"/>
            <a:ext cx="2190900" cy="1143000"/>
            <a:chOff x="0" y="0"/>
            <a:chExt cx="2190900" cy="1143000"/>
          </a:xfrm>
        </p:grpSpPr>
        <p:sp>
          <p:nvSpPr>
            <p:cNvPr id="105" name="Google Shape;105;p14"/>
            <p:cNvSpPr/>
            <p:nvPr/>
          </p:nvSpPr>
          <p:spPr>
            <a:xfrm>
              <a:off x="0" y="0"/>
              <a:ext cx="2190900" cy="1143000"/>
            </a:xfrm>
            <a:prstGeom prst="roundRect">
              <a:avLst>
                <a:gd name="adj" fmla="val 10000"/>
              </a:avLst>
            </a:prstGeom>
            <a:solidFill>
              <a:srgbClr val="1D4ED8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14"/>
            <p:cNvSpPr txBox="1"/>
            <p:nvPr/>
          </p:nvSpPr>
          <p:spPr>
            <a:xfrm>
              <a:off x="0" y="0"/>
              <a:ext cx="21909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Scalable</a:t>
              </a:r>
              <a:endParaRPr sz="18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0">
                  <a:solidFill>
                    <a:srgbClr val="BFDBFE"/>
                  </a:solidFill>
                  <a:latin typeface="Lato"/>
                  <a:ea typeface="Lato"/>
                  <a:cs typeface="Lato"/>
                  <a:sym typeface="Lato"/>
                </a:rPr>
                <a:t>Robust ML Pipeline</a:t>
              </a:r>
              <a:endParaRPr sz="1100" b="0">
                <a:solidFill>
                  <a:srgbClr val="BFDBFE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1" name="Google Shape;111;p15"/>
          <p:cNvGrpSpPr/>
          <p:nvPr/>
        </p:nvGrpSpPr>
        <p:grpSpPr>
          <a:xfrm>
            <a:off x="952500" y="571500"/>
            <a:ext cx="10287000" cy="762000"/>
            <a:chOff x="0" y="0"/>
            <a:chExt cx="10287000" cy="762000"/>
          </a:xfrm>
        </p:grpSpPr>
        <p:sp>
          <p:nvSpPr>
            <p:cNvPr id="112" name="Google Shape;112;p15"/>
            <p:cNvSpPr txBox="1"/>
            <p:nvPr/>
          </p:nvSpPr>
          <p:spPr>
            <a:xfrm>
              <a:off x="0" y="0"/>
              <a:ext cx="10287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300" b="1">
                  <a:solidFill>
                    <a:srgbClr val="0F172A"/>
                  </a:solidFill>
                  <a:latin typeface="Poppins"/>
                  <a:ea typeface="Poppins"/>
                  <a:cs typeface="Poppins"/>
                  <a:sym typeface="Poppins"/>
                </a:rPr>
                <a:t>Project Objectives</a:t>
              </a:r>
              <a:endParaRPr sz="3300" b="1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13" name="Google Shape;113;p15"/>
            <p:cNvSpPr/>
            <p:nvPr/>
          </p:nvSpPr>
          <p:spPr>
            <a:xfrm>
              <a:off x="0" y="666750"/>
              <a:ext cx="2857500" cy="38100"/>
            </a:xfrm>
            <a:prstGeom prst="rect">
              <a:avLst/>
            </a:prstGeom>
            <a:solidFill>
              <a:srgbClr val="1D4ED8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4" name="Google Shape;114;p15"/>
          <p:cNvSpPr txBox="1"/>
          <p:nvPr/>
        </p:nvSpPr>
        <p:spPr>
          <a:xfrm>
            <a:off x="952500" y="1524000"/>
            <a:ext cx="10287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Build a reliable predictive model that determines loan approval status using applicant income, employment status, credit history, loan amount, debt-to-income ratio, and other financial indicators.</a:t>
            </a:r>
            <a:endParaRPr sz="1600" b="0" dirty="0">
              <a:solidFill>
                <a:srgbClr val="1E293B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115" name="Google Shape;115;p15"/>
          <p:cNvGrpSpPr/>
          <p:nvPr/>
        </p:nvGrpSpPr>
        <p:grpSpPr>
          <a:xfrm>
            <a:off x="952500" y="2476500"/>
            <a:ext cx="2333700" cy="2857500"/>
            <a:chOff x="0" y="0"/>
            <a:chExt cx="2333700" cy="2857500"/>
          </a:xfrm>
        </p:grpSpPr>
        <p:sp>
          <p:nvSpPr>
            <p:cNvPr id="116" name="Google Shape;116;p15"/>
            <p:cNvSpPr/>
            <p:nvPr/>
          </p:nvSpPr>
          <p:spPr>
            <a:xfrm>
              <a:off x="0" y="0"/>
              <a:ext cx="2333700" cy="2857500"/>
            </a:xfrm>
            <a:prstGeom prst="roundRect">
              <a:avLst>
                <a:gd name="adj" fmla="val 4897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15"/>
            <p:cNvSpPr txBox="1"/>
            <p:nvPr/>
          </p:nvSpPr>
          <p:spPr>
            <a:xfrm>
              <a:off x="0" y="0"/>
              <a:ext cx="2333700" cy="2857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85750" tIns="285750" rIns="285750" bIns="2857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 dirty="0">
                  <a:solidFill>
                    <a:srgbClr val="1D4ED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Settings</a:t>
              </a: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 dirty="0">
                  <a:solidFill>
                    <a:srgbClr val="1D4ED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suggest</a:t>
              </a:r>
              <a:endParaRPr sz="3600" dirty="0">
                <a:solidFill>
                  <a:srgbClr val="1D4ED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marL="0" lvl="0" indent="0" algn="ctr" rtl="0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lang="en-US" sz="2000" b="1" dirty="0">
                  <a:solidFill>
                    <a:srgbClr val="0F172A"/>
                  </a:solidFill>
                  <a:latin typeface="Poppins"/>
                  <a:ea typeface="Poppins"/>
                  <a:cs typeface="Poppins"/>
                  <a:sym typeface="Poppins"/>
                </a:rPr>
                <a:t>Automate</a:t>
              </a:r>
              <a:endParaRPr sz="2000" b="1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lvl="0" indent="0" algn="ctr" rtl="0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-US" sz="1200" dirty="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Streamline the loan approval workflow end-to-end</a:t>
              </a:r>
              <a:endParaRPr sz="1200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118" name="Google Shape;118;p15"/>
          <p:cNvGrpSpPr/>
          <p:nvPr/>
        </p:nvGrpSpPr>
        <p:grpSpPr>
          <a:xfrm>
            <a:off x="3524250" y="2476500"/>
            <a:ext cx="2333700" cy="2857500"/>
            <a:chOff x="0" y="0"/>
            <a:chExt cx="2333700" cy="2857500"/>
          </a:xfrm>
        </p:grpSpPr>
        <p:sp>
          <p:nvSpPr>
            <p:cNvPr id="119" name="Google Shape;119;p15"/>
            <p:cNvSpPr/>
            <p:nvPr/>
          </p:nvSpPr>
          <p:spPr>
            <a:xfrm>
              <a:off x="0" y="0"/>
              <a:ext cx="2333700" cy="2857500"/>
            </a:xfrm>
            <a:prstGeom prst="roundRect">
              <a:avLst>
                <a:gd name="adj" fmla="val 4897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15"/>
            <p:cNvSpPr txBox="1"/>
            <p:nvPr/>
          </p:nvSpPr>
          <p:spPr>
            <a:xfrm>
              <a:off x="0" y="0"/>
              <a:ext cx="2333700" cy="2857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85750" tIns="285750" rIns="285750" bIns="2857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 dirty="0">
                  <a:solidFill>
                    <a:srgbClr val="1D4ED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Query</a:t>
              </a: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 dirty="0">
                  <a:solidFill>
                    <a:srgbClr val="1D4ED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stats</a:t>
              </a:r>
              <a:endParaRPr sz="3600" dirty="0">
                <a:solidFill>
                  <a:srgbClr val="1D4ED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marL="0" lvl="0" indent="0" algn="ctr" rtl="0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lang="en-US" sz="1800" b="1" dirty="0">
                  <a:solidFill>
                    <a:srgbClr val="0F172A"/>
                  </a:solidFill>
                  <a:latin typeface="Poppins"/>
                  <a:ea typeface="Poppins"/>
                  <a:cs typeface="Poppins"/>
                  <a:sym typeface="Poppins"/>
                </a:rPr>
                <a:t>Improve Accuracy</a:t>
              </a:r>
              <a:endParaRPr sz="1800" b="1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lvl="0" indent="0" algn="ctr" rtl="0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-US" sz="1200" dirty="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Strengthen data-driven decision-making</a:t>
              </a:r>
              <a:endParaRPr sz="1200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121" name="Google Shape;121;p15"/>
          <p:cNvGrpSpPr/>
          <p:nvPr/>
        </p:nvGrpSpPr>
        <p:grpSpPr>
          <a:xfrm>
            <a:off x="6096000" y="2476500"/>
            <a:ext cx="2333700" cy="2857500"/>
            <a:chOff x="0" y="0"/>
            <a:chExt cx="2333700" cy="2857500"/>
          </a:xfrm>
        </p:grpSpPr>
        <p:sp>
          <p:nvSpPr>
            <p:cNvPr id="122" name="Google Shape;122;p15"/>
            <p:cNvSpPr/>
            <p:nvPr/>
          </p:nvSpPr>
          <p:spPr>
            <a:xfrm>
              <a:off x="0" y="0"/>
              <a:ext cx="2333700" cy="2857500"/>
            </a:xfrm>
            <a:prstGeom prst="roundRect">
              <a:avLst>
                <a:gd name="adj" fmla="val 4897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15"/>
            <p:cNvSpPr txBox="1"/>
            <p:nvPr/>
          </p:nvSpPr>
          <p:spPr>
            <a:xfrm>
              <a:off x="0" y="0"/>
              <a:ext cx="2333700" cy="2857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85750" tIns="285750" rIns="285750" bIns="2857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 dirty="0">
                  <a:solidFill>
                    <a:srgbClr val="1D4ED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GPP</a:t>
              </a: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 dirty="0">
                  <a:solidFill>
                    <a:srgbClr val="1D4ED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good</a:t>
              </a:r>
              <a:endParaRPr sz="3600" dirty="0">
                <a:solidFill>
                  <a:srgbClr val="1D4ED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marL="0" lvl="0" indent="0" algn="ctr" rtl="0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lang="en-US" sz="1800" b="1" dirty="0">
                  <a:solidFill>
                    <a:srgbClr val="0F172A"/>
                  </a:solidFill>
                  <a:latin typeface="Poppins"/>
                  <a:ea typeface="Poppins"/>
                  <a:cs typeface="Poppins"/>
                  <a:sym typeface="Poppins"/>
                </a:rPr>
                <a:t>Minimize Risk</a:t>
              </a:r>
              <a:endParaRPr sz="1800" b="1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lvl="0" indent="0" algn="ctr" rtl="0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-US" sz="1200" dirty="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Reduce approval of high-risk applicants</a:t>
              </a:r>
              <a:endParaRPr sz="1200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124" name="Google Shape;124;p15"/>
          <p:cNvGrpSpPr/>
          <p:nvPr/>
        </p:nvGrpSpPr>
        <p:grpSpPr>
          <a:xfrm>
            <a:off x="8667750" y="2476500"/>
            <a:ext cx="2333700" cy="2857500"/>
            <a:chOff x="0" y="0"/>
            <a:chExt cx="2333700" cy="2857500"/>
          </a:xfrm>
        </p:grpSpPr>
        <p:sp>
          <p:nvSpPr>
            <p:cNvPr id="125" name="Google Shape;125;p15"/>
            <p:cNvSpPr/>
            <p:nvPr/>
          </p:nvSpPr>
          <p:spPr>
            <a:xfrm>
              <a:off x="0" y="0"/>
              <a:ext cx="2333700" cy="2857500"/>
            </a:xfrm>
            <a:prstGeom prst="roundRect">
              <a:avLst>
                <a:gd name="adj" fmla="val 4897"/>
              </a:avLst>
            </a:prstGeom>
            <a:solidFill>
              <a:srgbClr val="1D4ED8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15"/>
            <p:cNvSpPr txBox="1"/>
            <p:nvPr/>
          </p:nvSpPr>
          <p:spPr>
            <a:xfrm>
              <a:off x="0" y="0"/>
              <a:ext cx="2333700" cy="2857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85750" tIns="285750" rIns="285750" bIns="2857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 dirty="0">
                  <a:solidFill>
                    <a:srgbClr val="FFFFFF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Rocket</a:t>
              </a: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 dirty="0">
                  <a:solidFill>
                    <a:srgbClr val="FFFFFF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launch</a:t>
              </a:r>
              <a:endParaRPr sz="3600" dirty="0">
                <a:solidFill>
                  <a:srgbClr val="FFFFFF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marL="0" lvl="0" indent="0" algn="ctr" rtl="0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lang="en-US" sz="1800" b="1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Scale</a:t>
              </a:r>
              <a:endParaRPr sz="18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lvl="0" indent="0" algn="ctr" rtl="0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-US" sz="1200" dirty="0">
                  <a:solidFill>
                    <a:srgbClr val="BFDBFE"/>
                  </a:solidFill>
                  <a:latin typeface="Lato"/>
                  <a:ea typeface="Lato"/>
                  <a:cs typeface="Lato"/>
                  <a:sym typeface="Lato"/>
                </a:rPr>
                <a:t>Create a reusable pipeline for real-world use</a:t>
              </a:r>
              <a:endParaRPr sz="1200" dirty="0">
                <a:solidFill>
                  <a:srgbClr val="BFDBFE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585912"/>
            <a:ext cx="5286375" cy="4886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1585912"/>
            <a:ext cx="5286375" cy="4886325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6"/>
          <p:cNvSpPr txBox="1"/>
          <p:nvPr/>
        </p:nvSpPr>
        <p:spPr>
          <a:xfrm>
            <a:off x="1000125" y="2071687"/>
            <a:ext cx="4650581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The Challenge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1000125" y="2614612"/>
            <a:ext cx="442912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SecureTrust Bank relies on manual verification by loan officers, assessing income, employment, and credit history.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6762750" y="2071687"/>
            <a:ext cx="4650581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The Solution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6762750" y="2614612"/>
            <a:ext cx="442912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Develop an intelligent, data-driven system powered by Machine Learning to predict approval status prior to human review.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1123950" y="3700462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1238250" y="3700462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Inefficiency:</a:t>
            </a:r>
            <a:r>
              <a:rPr lang="en-US" sz="1500" b="0" i="0" u="none" strike="noStrike" cap="non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Process is slow and labor-intensive.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1123950" y="4176712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1238250" y="4176712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Inconsistency:</a:t>
            </a:r>
            <a:r>
              <a:rPr lang="en-US" sz="1500" b="0" i="0" u="none" strike="noStrike" cap="non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Subject to human bias and errors.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1123950" y="4652962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1238250" y="4652962"/>
            <a:ext cx="4191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Business Impact:</a:t>
            </a:r>
            <a:r>
              <a:rPr lang="en-US" sz="1500" b="0" i="0" u="none" strike="noStrike" cap="non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High-risk applicants approved (losses) or good applicants rejected (lost revenue).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6886575" y="3700462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45" name="Google Shape;145;p16"/>
          <p:cNvSpPr txBox="1"/>
          <p:nvPr/>
        </p:nvSpPr>
        <p:spPr>
          <a:xfrm>
            <a:off x="7000875" y="3700462"/>
            <a:ext cx="4191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Automation:</a:t>
            </a:r>
            <a:r>
              <a:rPr lang="en-US" sz="1500" b="0" i="0" u="none" strike="noStrike" cap="non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Fast-track decision-making processes.</a:t>
            </a:r>
            <a:endParaRPr/>
          </a:p>
        </p:txBody>
      </p:sp>
      <p:sp>
        <p:nvSpPr>
          <p:cNvPr id="146" name="Google Shape;146;p16"/>
          <p:cNvSpPr txBox="1"/>
          <p:nvPr/>
        </p:nvSpPr>
        <p:spPr>
          <a:xfrm>
            <a:off x="6886575" y="4481512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47" name="Google Shape;147;p16"/>
          <p:cNvSpPr txBox="1"/>
          <p:nvPr/>
        </p:nvSpPr>
        <p:spPr>
          <a:xfrm>
            <a:off x="7000875" y="4481512"/>
            <a:ext cx="4191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Accuracy:</a:t>
            </a:r>
            <a:r>
              <a:rPr lang="en-US" sz="1500" b="0" i="0" u="none" strike="noStrike" cap="non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Minimize risk with historical data patterns.</a:t>
            </a:r>
            <a:endParaRPr/>
          </a:p>
        </p:txBody>
      </p:sp>
      <p:sp>
        <p:nvSpPr>
          <p:cNvPr id="148" name="Google Shape;148;p16"/>
          <p:cNvSpPr txBox="1"/>
          <p:nvPr/>
        </p:nvSpPr>
        <p:spPr>
          <a:xfrm>
            <a:off x="6886575" y="5262562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49" name="Google Shape;149;p16"/>
          <p:cNvSpPr txBox="1"/>
          <p:nvPr/>
        </p:nvSpPr>
        <p:spPr>
          <a:xfrm>
            <a:off x="7000875" y="5262562"/>
            <a:ext cx="4191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Scalability:</a:t>
            </a:r>
            <a:r>
              <a:rPr lang="en-US" sz="1500" b="0" i="0" u="none" strike="noStrike" cap="non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Deploy a robust, reproducible ML pipeline for real-time predictions.</a:t>
            </a:r>
            <a:endParaRPr/>
          </a:p>
        </p:txBody>
      </p:sp>
      <p:sp>
        <p:nvSpPr>
          <p:cNvPr id="150" name="Google Shape;150;p16"/>
          <p:cNvSpPr txBox="1"/>
          <p:nvPr/>
        </p:nvSpPr>
        <p:spPr>
          <a:xfrm>
            <a:off x="2533650" y="385762"/>
            <a:ext cx="7480935" cy="65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Executive Summary &amp; Objectives</a:t>
            </a:r>
            <a:endParaRPr/>
          </a:p>
        </p:txBody>
      </p:sp>
      <p:sp>
        <p:nvSpPr>
          <p:cNvPr id="151" name="Google Shape;151;p16"/>
          <p:cNvSpPr/>
          <p:nvPr/>
        </p:nvSpPr>
        <p:spPr>
          <a:xfrm>
            <a:off x="2533650" y="1119187"/>
            <a:ext cx="7124700" cy="381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386012"/>
            <a:ext cx="11049000" cy="3876675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7"/>
          <p:cNvSpPr txBox="1"/>
          <p:nvPr/>
        </p:nvSpPr>
        <p:spPr>
          <a:xfrm>
            <a:off x="1771650" y="1795462"/>
            <a:ext cx="86487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The dataset includes demographic, financial, and credit-related attributes critical for assessing lending risk.</a:t>
            </a:r>
            <a:endParaRPr/>
          </a:p>
        </p:txBody>
      </p:sp>
      <p:graphicFrame>
        <p:nvGraphicFramePr>
          <p:cNvPr id="159" name="Google Shape;159;p17"/>
          <p:cNvGraphicFramePr/>
          <p:nvPr/>
        </p:nvGraphicFramePr>
        <p:xfrm>
          <a:off x="581025" y="2395537"/>
          <a:ext cx="11029925" cy="3857625"/>
        </p:xfrm>
        <a:graphic>
          <a:graphicData uri="http://schemas.openxmlformats.org/drawingml/2006/table">
            <a:tbl>
              <a:tblPr firstRow="1" bandRow="1">
                <a:noFill/>
                <a:tableStyleId>{C70B05FA-A71E-40D1-A715-4E6A340906E4}</a:tableStyleId>
              </a:tblPr>
              <a:tblGrid>
                <a:gridCol w="1716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44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69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715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0F172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Category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0F172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Key Features Analyzed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0F172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Relevance to Risk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15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1" i="0" u="none" strike="noStrike" cap="non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Financial Status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Applicant/Co-applicant Income, Savings, Collateral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Determines repayment capacity and baseline wealth.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15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1" i="0" u="none" strike="noStrike" cap="non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Credit History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Credit Score, Existing Loans, DTI (Debt-to-Income)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Highly predictive of default probability and financial strain.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15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1" i="0" u="none" strike="noStrike" cap="non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Demographics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Age, Employment Status, Education, Property Area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Contextual indicators that influence stability and long-term earnings.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15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1" i="0" u="none" strike="noStrike" cap="non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Target Variable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Approved (1) / Rejected (0)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The dependent variable the model is trained to predict.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60" name="Google Shape;160;p17"/>
          <p:cNvSpPr/>
          <p:nvPr/>
        </p:nvSpPr>
        <p:spPr>
          <a:xfrm>
            <a:off x="581025" y="3057525"/>
            <a:ext cx="1716137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7"/>
          <p:cNvSpPr/>
          <p:nvPr/>
        </p:nvSpPr>
        <p:spPr>
          <a:xfrm>
            <a:off x="2297162" y="3057525"/>
            <a:ext cx="4044553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7"/>
          <p:cNvSpPr/>
          <p:nvPr/>
        </p:nvSpPr>
        <p:spPr>
          <a:xfrm>
            <a:off x="6341715" y="3057525"/>
            <a:ext cx="5269259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7"/>
          <p:cNvSpPr/>
          <p:nvPr/>
        </p:nvSpPr>
        <p:spPr>
          <a:xfrm>
            <a:off x="581025" y="3886200"/>
            <a:ext cx="1716137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7"/>
          <p:cNvSpPr/>
          <p:nvPr/>
        </p:nvSpPr>
        <p:spPr>
          <a:xfrm>
            <a:off x="2297162" y="3886200"/>
            <a:ext cx="4044553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7"/>
          <p:cNvSpPr/>
          <p:nvPr/>
        </p:nvSpPr>
        <p:spPr>
          <a:xfrm>
            <a:off x="6341715" y="3886200"/>
            <a:ext cx="5269259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7"/>
          <p:cNvSpPr/>
          <p:nvPr/>
        </p:nvSpPr>
        <p:spPr>
          <a:xfrm>
            <a:off x="581025" y="4714875"/>
            <a:ext cx="1716137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7"/>
          <p:cNvSpPr/>
          <p:nvPr/>
        </p:nvSpPr>
        <p:spPr>
          <a:xfrm>
            <a:off x="2297162" y="4714875"/>
            <a:ext cx="4044553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7"/>
          <p:cNvSpPr/>
          <p:nvPr/>
        </p:nvSpPr>
        <p:spPr>
          <a:xfrm>
            <a:off x="6341715" y="4714875"/>
            <a:ext cx="5269259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7"/>
          <p:cNvSpPr/>
          <p:nvPr/>
        </p:nvSpPr>
        <p:spPr>
          <a:xfrm>
            <a:off x="581025" y="5543550"/>
            <a:ext cx="1716137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7"/>
          <p:cNvSpPr/>
          <p:nvPr/>
        </p:nvSpPr>
        <p:spPr>
          <a:xfrm>
            <a:off x="2297162" y="5543550"/>
            <a:ext cx="4044553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7"/>
          <p:cNvSpPr/>
          <p:nvPr/>
        </p:nvSpPr>
        <p:spPr>
          <a:xfrm>
            <a:off x="6341715" y="5543550"/>
            <a:ext cx="5269259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2" name="Google Shape;172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364212" y="6062662"/>
            <a:ext cx="1219200" cy="314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814387" y="6062662"/>
            <a:ext cx="1143000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7"/>
          <p:cNvSpPr txBox="1"/>
          <p:nvPr/>
        </p:nvSpPr>
        <p:spPr>
          <a:xfrm>
            <a:off x="2538412" y="571500"/>
            <a:ext cx="7470933" cy="65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Dataset Overview &amp; Key Features</a:t>
            </a:r>
            <a:endParaRPr/>
          </a:p>
        </p:txBody>
      </p:sp>
      <p:sp>
        <p:nvSpPr>
          <p:cNvPr id="175" name="Google Shape;175;p17"/>
          <p:cNvSpPr/>
          <p:nvPr/>
        </p:nvSpPr>
        <p:spPr>
          <a:xfrm>
            <a:off x="2538412" y="1304925"/>
            <a:ext cx="7115175" cy="381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Google Shape;180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600575"/>
            <a:ext cx="2541240" cy="22228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07419" y="1615678"/>
            <a:ext cx="2541240" cy="22228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43339" y="4600575"/>
            <a:ext cx="2541240" cy="22228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079259" y="1615678"/>
            <a:ext cx="2541240" cy="2222896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8"/>
          <p:cNvSpPr/>
          <p:nvPr/>
        </p:nvSpPr>
        <p:spPr>
          <a:xfrm>
            <a:off x="571500" y="4181475"/>
            <a:ext cx="11049000" cy="76200"/>
          </a:xfrm>
          <a:prstGeom prst="roundRect">
            <a:avLst>
              <a:gd name="adj" fmla="val 50000"/>
            </a:avLst>
          </a:prstGeom>
          <a:solidFill>
            <a:srgbClr val="94A3B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8"/>
          <p:cNvSpPr txBox="1"/>
          <p:nvPr/>
        </p:nvSpPr>
        <p:spPr>
          <a:xfrm>
            <a:off x="768001" y="4876800"/>
            <a:ext cx="2148237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1. Data Preparation</a:t>
            </a:r>
            <a:endParaRPr/>
          </a:p>
        </p:txBody>
      </p:sp>
      <p:sp>
        <p:nvSpPr>
          <p:cNvPr id="187" name="Google Shape;187;p18"/>
          <p:cNvSpPr txBox="1"/>
          <p:nvPr/>
        </p:nvSpPr>
        <p:spPr>
          <a:xfrm>
            <a:off x="819150" y="5600700"/>
            <a:ext cx="2045940" cy="9751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Loaded and inspected the historical dataset, analyzing structures, distributions, and missing values.</a:t>
            </a:r>
            <a:endParaRPr/>
          </a:p>
        </p:txBody>
      </p:sp>
      <p:sp>
        <p:nvSpPr>
          <p:cNvPr id="188" name="Google Shape;188;p18"/>
          <p:cNvSpPr txBox="1"/>
          <p:nvPr/>
        </p:nvSpPr>
        <p:spPr>
          <a:xfrm>
            <a:off x="3603921" y="1863328"/>
            <a:ext cx="2148237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2. Feature Engineering</a:t>
            </a:r>
            <a:endParaRPr/>
          </a:p>
        </p:txBody>
      </p:sp>
      <p:sp>
        <p:nvSpPr>
          <p:cNvPr id="189" name="Google Shape;189;p18"/>
          <p:cNvSpPr txBox="1"/>
          <p:nvPr/>
        </p:nvSpPr>
        <p:spPr>
          <a:xfrm>
            <a:off x="3655069" y="2587228"/>
            <a:ext cx="2045940" cy="9751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Created new features, imputed missing values, scaled numeric data, and encoded categorical features.</a:t>
            </a:r>
            <a:endParaRPr/>
          </a:p>
        </p:txBody>
      </p:sp>
      <p:sp>
        <p:nvSpPr>
          <p:cNvPr id="190" name="Google Shape;190;p18"/>
          <p:cNvSpPr txBox="1"/>
          <p:nvPr/>
        </p:nvSpPr>
        <p:spPr>
          <a:xfrm>
            <a:off x="6439841" y="4876800"/>
            <a:ext cx="2148237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3. Model Development</a:t>
            </a:r>
            <a:endParaRPr/>
          </a:p>
        </p:txBody>
      </p:sp>
      <p:sp>
        <p:nvSpPr>
          <p:cNvPr id="191" name="Google Shape;191;p18"/>
          <p:cNvSpPr txBox="1"/>
          <p:nvPr/>
        </p:nvSpPr>
        <p:spPr>
          <a:xfrm>
            <a:off x="6490989" y="5600700"/>
            <a:ext cx="2045940" cy="9751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Trained multiple baseline and ensemble algorithms, optimizing via Hyperparameter Tuning.</a:t>
            </a:r>
            <a:endParaRPr/>
          </a:p>
        </p:txBody>
      </p:sp>
      <p:sp>
        <p:nvSpPr>
          <p:cNvPr id="192" name="Google Shape;192;p18"/>
          <p:cNvSpPr txBox="1"/>
          <p:nvPr/>
        </p:nvSpPr>
        <p:spPr>
          <a:xfrm>
            <a:off x="9275761" y="1863328"/>
            <a:ext cx="2148237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4. Inference &amp; Deploy</a:t>
            </a:r>
            <a:endParaRPr/>
          </a:p>
        </p:txBody>
      </p:sp>
      <p:sp>
        <p:nvSpPr>
          <p:cNvPr id="193" name="Google Shape;193;p18"/>
          <p:cNvSpPr txBox="1"/>
          <p:nvPr/>
        </p:nvSpPr>
        <p:spPr>
          <a:xfrm>
            <a:off x="9326909" y="2587228"/>
            <a:ext cx="2045940" cy="9751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Built a reusable ColumnTransformer pipeline and serialized the final model using Joblib.</a:t>
            </a:r>
            <a:endParaRPr/>
          </a:p>
        </p:txBody>
      </p:sp>
      <p:sp>
        <p:nvSpPr>
          <p:cNvPr id="194" name="Google Shape;194;p18"/>
          <p:cNvSpPr/>
          <p:nvPr/>
        </p:nvSpPr>
        <p:spPr>
          <a:xfrm>
            <a:off x="1708770" y="4086225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 w="571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8"/>
          <p:cNvSpPr/>
          <p:nvPr/>
        </p:nvSpPr>
        <p:spPr>
          <a:xfrm>
            <a:off x="4544690" y="4086225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 w="571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8"/>
          <p:cNvSpPr/>
          <p:nvPr/>
        </p:nvSpPr>
        <p:spPr>
          <a:xfrm>
            <a:off x="7380609" y="4086225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 w="571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8"/>
          <p:cNvSpPr/>
          <p:nvPr/>
        </p:nvSpPr>
        <p:spPr>
          <a:xfrm>
            <a:off x="10216529" y="4086225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 w="571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8"/>
          <p:cNvSpPr txBox="1"/>
          <p:nvPr/>
        </p:nvSpPr>
        <p:spPr>
          <a:xfrm>
            <a:off x="4271962" y="571500"/>
            <a:ext cx="3830478" cy="65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Project Workflow</a:t>
            </a:r>
            <a:endParaRPr/>
          </a:p>
        </p:txBody>
      </p:sp>
      <p:sp>
        <p:nvSpPr>
          <p:cNvPr id="199" name="Google Shape;199;p18"/>
          <p:cNvSpPr/>
          <p:nvPr/>
        </p:nvSpPr>
        <p:spPr>
          <a:xfrm>
            <a:off x="4271962" y="1304925"/>
            <a:ext cx="3648075" cy="381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Google Shape;204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876425"/>
            <a:ext cx="3429000" cy="430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81500" y="1876425"/>
            <a:ext cx="3429000" cy="430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91500" y="1876425"/>
            <a:ext cx="3429000" cy="430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762125" y="2266950"/>
            <a:ext cx="1047750" cy="104775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19"/>
          <p:cNvSpPr txBox="1"/>
          <p:nvPr/>
        </p:nvSpPr>
        <p:spPr>
          <a:xfrm>
            <a:off x="1475898" y="3552825"/>
            <a:ext cx="1620202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Imputation</a:t>
            </a:r>
            <a:endParaRPr/>
          </a:p>
        </p:txBody>
      </p:sp>
      <p:sp>
        <p:nvSpPr>
          <p:cNvPr id="210" name="Google Shape;210;p19"/>
          <p:cNvSpPr txBox="1"/>
          <p:nvPr/>
        </p:nvSpPr>
        <p:spPr>
          <a:xfrm>
            <a:off x="866775" y="4095750"/>
            <a:ext cx="283845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Handled missing values systematically. Used </a:t>
            </a:r>
            <a:r>
              <a:rPr lang="en-US" sz="1500" b="1" i="0" u="none" strike="noStrike" cap="non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Median Imputation</a:t>
            </a:r>
            <a:r>
              <a:rPr lang="en-US" sz="1500" b="0" i="0" u="none" strike="noStrike" cap="non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for numeric data (robust to outliers) and </a:t>
            </a:r>
            <a:r>
              <a:rPr lang="en-US" sz="1500" b="1" i="0" u="none" strike="noStrike" cap="non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Most Frequent</a:t>
            </a:r>
            <a:r>
              <a:rPr lang="en-US" sz="1500" b="0" i="0" u="none" strike="noStrike" cap="non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for categorical data.</a:t>
            </a:r>
            <a:endParaRPr/>
          </a:p>
        </p:txBody>
      </p:sp>
      <p:pic>
        <p:nvPicPr>
          <p:cNvPr id="211" name="Google Shape;211;p1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572125" y="2266950"/>
            <a:ext cx="1047750" cy="104775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19"/>
          <p:cNvSpPr txBox="1"/>
          <p:nvPr/>
        </p:nvSpPr>
        <p:spPr>
          <a:xfrm>
            <a:off x="5565933" y="3552825"/>
            <a:ext cx="1060132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Scaling</a:t>
            </a:r>
            <a:endParaRPr/>
          </a:p>
        </p:txBody>
      </p:sp>
      <p:sp>
        <p:nvSpPr>
          <p:cNvPr id="213" name="Google Shape;213;p19"/>
          <p:cNvSpPr txBox="1"/>
          <p:nvPr/>
        </p:nvSpPr>
        <p:spPr>
          <a:xfrm>
            <a:off x="4676775" y="4095750"/>
            <a:ext cx="283845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Applied </a:t>
            </a:r>
            <a:r>
              <a:rPr lang="en-US" sz="1500" b="1" i="0" u="none" strike="noStrike" cap="non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StandardScaler</a:t>
            </a:r>
            <a:r>
              <a:rPr lang="en-US" sz="1500" b="0" i="0" u="none" strike="noStrike" cap="non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to normalize numerical features, ensuring models like KNN and Logistic Regression converge correctly and quickly.</a:t>
            </a:r>
            <a:endParaRPr/>
          </a:p>
        </p:txBody>
      </p:sp>
      <p:pic>
        <p:nvPicPr>
          <p:cNvPr id="214" name="Google Shape;214;p19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382125" y="2266950"/>
            <a:ext cx="1047750" cy="104775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19"/>
          <p:cNvSpPr txBox="1"/>
          <p:nvPr/>
        </p:nvSpPr>
        <p:spPr>
          <a:xfrm>
            <a:off x="9235916" y="3552825"/>
            <a:ext cx="1340167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Encoding</a:t>
            </a:r>
            <a:endParaRPr/>
          </a:p>
        </p:txBody>
      </p:sp>
      <p:sp>
        <p:nvSpPr>
          <p:cNvPr id="216" name="Google Shape;216;p19"/>
          <p:cNvSpPr txBox="1"/>
          <p:nvPr/>
        </p:nvSpPr>
        <p:spPr>
          <a:xfrm>
            <a:off x="8486775" y="4095750"/>
            <a:ext cx="283845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Utilized </a:t>
            </a:r>
            <a:r>
              <a:rPr lang="en-US" sz="1500" b="1" i="0" u="none" strike="noStrike" cap="non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OneHotEncoder</a:t>
            </a:r>
            <a:r>
              <a:rPr lang="en-US" sz="1500" b="0" i="0" u="none" strike="noStrike" cap="non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dropping the first column to prevent multicollinearity, effectively handling categorical variables like Employment Status.</a:t>
            </a:r>
            <a:endParaRPr/>
          </a:p>
        </p:txBody>
      </p:sp>
      <p:pic>
        <p:nvPicPr>
          <p:cNvPr id="217" name="Google Shape;217;p19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985962" y="2524125"/>
            <a:ext cx="600075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19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5829300" y="2524125"/>
            <a:ext cx="533400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19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9672637" y="2524125"/>
            <a:ext cx="466725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19"/>
          <p:cNvSpPr txBox="1"/>
          <p:nvPr/>
        </p:nvSpPr>
        <p:spPr>
          <a:xfrm>
            <a:off x="2847975" y="571500"/>
            <a:ext cx="6820852" cy="65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Robust Preprocessing Pipeline</a:t>
            </a:r>
            <a:endParaRPr/>
          </a:p>
        </p:txBody>
      </p:sp>
      <p:sp>
        <p:nvSpPr>
          <p:cNvPr id="221" name="Google Shape;221;p19"/>
          <p:cNvSpPr/>
          <p:nvPr/>
        </p:nvSpPr>
        <p:spPr>
          <a:xfrm>
            <a:off x="2847975" y="1304925"/>
            <a:ext cx="6496050" cy="381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83B006C-9C7A-6C46-4456-33410C7E67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532" y="245533"/>
            <a:ext cx="11235267" cy="6290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9857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4" name="Google Shape;244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502568"/>
            <a:ext cx="5286375" cy="5053012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1"/>
          <p:cNvSpPr txBox="1"/>
          <p:nvPr/>
        </p:nvSpPr>
        <p:spPr>
          <a:xfrm>
            <a:off x="1171575" y="2102643"/>
            <a:ext cx="4086225" cy="1625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00" b="1" i="0" u="none" strike="noStrike" cap="none" dirty="0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93.5%</a:t>
            </a:r>
            <a:endParaRPr sz="9600" dirty="0"/>
          </a:p>
        </p:txBody>
      </p:sp>
      <p:sp>
        <p:nvSpPr>
          <p:cNvPr id="247" name="Google Shape;247;p21"/>
          <p:cNvSpPr txBox="1"/>
          <p:nvPr/>
        </p:nvSpPr>
        <p:spPr>
          <a:xfrm>
            <a:off x="1171575" y="3769518"/>
            <a:ext cx="40862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TEST ACCURACY</a:t>
            </a:r>
            <a:endParaRPr/>
          </a:p>
        </p:txBody>
      </p:sp>
      <p:sp>
        <p:nvSpPr>
          <p:cNvPr id="248" name="Google Shape;248;p21"/>
          <p:cNvSpPr/>
          <p:nvPr/>
        </p:nvSpPr>
        <p:spPr>
          <a:xfrm>
            <a:off x="1171575" y="4360068"/>
            <a:ext cx="4086225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1"/>
          <p:cNvSpPr txBox="1"/>
          <p:nvPr/>
        </p:nvSpPr>
        <p:spPr>
          <a:xfrm>
            <a:off x="1171575" y="4664868"/>
            <a:ext cx="4086225" cy="1184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99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0" b="1" i="0" u="none" strike="noStrike" cap="none" dirty="0">
                <a:solidFill>
                  <a:srgbClr val="1D4ED8"/>
                </a:solidFill>
                <a:latin typeface="Poppins"/>
                <a:ea typeface="Poppins"/>
                <a:cs typeface="Poppins"/>
                <a:sym typeface="Poppins"/>
              </a:rPr>
              <a:t>0.901</a:t>
            </a:r>
            <a:endParaRPr sz="7000" dirty="0"/>
          </a:p>
        </p:txBody>
      </p:sp>
      <p:sp>
        <p:nvSpPr>
          <p:cNvPr id="250" name="Google Shape;250;p21"/>
          <p:cNvSpPr txBox="1"/>
          <p:nvPr/>
        </p:nvSpPr>
        <p:spPr>
          <a:xfrm>
            <a:off x="1171575" y="5650706"/>
            <a:ext cx="40862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TEST F1 SCORE</a:t>
            </a:r>
            <a:endParaRPr/>
          </a:p>
        </p:txBody>
      </p:sp>
      <p:sp>
        <p:nvSpPr>
          <p:cNvPr id="251" name="Google Shape;251;p21"/>
          <p:cNvSpPr txBox="1"/>
          <p:nvPr/>
        </p:nvSpPr>
        <p:spPr>
          <a:xfrm>
            <a:off x="6524625" y="1947862"/>
            <a:ext cx="5150643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0" i="0" u="none" strike="noStrike" cap="none">
                <a:solidFill>
                  <a:srgbClr val="1D4ED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Superior Predictive Power</a:t>
            </a:r>
            <a:endParaRPr/>
          </a:p>
        </p:txBody>
      </p:sp>
      <p:sp>
        <p:nvSpPr>
          <p:cNvPr id="252" name="Google Shape;252;p21"/>
          <p:cNvSpPr txBox="1"/>
          <p:nvPr/>
        </p:nvSpPr>
        <p:spPr>
          <a:xfrm>
            <a:off x="6524625" y="2576512"/>
            <a:ext cx="49053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The </a:t>
            </a:r>
            <a:r>
              <a:rPr lang="en-US" sz="1500" b="1" i="0" u="none" strike="noStrike" cap="non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XGBoost Classifier</a:t>
            </a:r>
            <a:r>
              <a:rPr lang="en-US" sz="1500" b="0" i="0" u="none" strike="noStrike" cap="non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vastly outperformed baseline models. It successfully captures non-linear relationships and complex interactions between variables.</a:t>
            </a:r>
            <a:endParaRPr/>
          </a:p>
        </p:txBody>
      </p:sp>
      <p:pic>
        <p:nvPicPr>
          <p:cNvPr id="253" name="Google Shape;253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524625" y="3729037"/>
            <a:ext cx="4905375" cy="220980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21"/>
          <p:cNvSpPr txBox="1"/>
          <p:nvPr/>
        </p:nvSpPr>
        <p:spPr>
          <a:xfrm>
            <a:off x="3238500" y="302418"/>
            <a:ext cx="6000750" cy="65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Champion Model: XGBoost</a:t>
            </a:r>
            <a:endParaRPr/>
          </a:p>
        </p:txBody>
      </p:sp>
      <p:sp>
        <p:nvSpPr>
          <p:cNvPr id="255" name="Google Shape;255;p21"/>
          <p:cNvSpPr/>
          <p:nvPr/>
        </p:nvSpPr>
        <p:spPr>
          <a:xfrm>
            <a:off x="3238500" y="1035843"/>
            <a:ext cx="5715000" cy="381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0" name="Google Shape;260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485900"/>
            <a:ext cx="11049000" cy="5086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5391150"/>
            <a:ext cx="11049000" cy="1009650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22"/>
          <p:cNvSpPr txBox="1"/>
          <p:nvPr/>
        </p:nvSpPr>
        <p:spPr>
          <a:xfrm>
            <a:off x="1500187" y="285750"/>
            <a:ext cx="9651206" cy="65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Model Performance Comparison (F1 Score)</a:t>
            </a:r>
            <a:endParaRPr/>
          </a:p>
        </p:txBody>
      </p:sp>
      <p:sp>
        <p:nvSpPr>
          <p:cNvPr id="264" name="Google Shape;264;p22"/>
          <p:cNvSpPr/>
          <p:nvPr/>
        </p:nvSpPr>
        <p:spPr>
          <a:xfrm>
            <a:off x="1500187" y="1019175"/>
            <a:ext cx="9191625" cy="381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C5C41EB-A376-D0F7-D4E8-87FB46B5CA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002" y="135467"/>
            <a:ext cx="11813344" cy="6409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48184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0" name="Google Shape;300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24"/>
          <p:cNvSpPr txBox="1"/>
          <p:nvPr/>
        </p:nvSpPr>
        <p:spPr>
          <a:xfrm>
            <a:off x="571500" y="571500"/>
            <a:ext cx="4990623" cy="65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Key Business Findings</a:t>
            </a:r>
            <a:endParaRPr/>
          </a:p>
        </p:txBody>
      </p:sp>
      <p:sp>
        <p:nvSpPr>
          <p:cNvPr id="302" name="Google Shape;302;p24"/>
          <p:cNvSpPr/>
          <p:nvPr/>
        </p:nvSpPr>
        <p:spPr>
          <a:xfrm>
            <a:off x="571500" y="1304925"/>
            <a:ext cx="4752975" cy="381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3" name="Google Shape;303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0"/>
            <a:ext cx="58578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24"/>
          <p:cNvSpPr txBox="1"/>
          <p:nvPr/>
        </p:nvSpPr>
        <p:spPr>
          <a:xfrm>
            <a:off x="571500" y="2038350"/>
            <a:ext cx="5550693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1D4ED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The Determinism of DTI &amp; Credit Score</a:t>
            </a:r>
            <a:endParaRPr/>
          </a:p>
        </p:txBody>
      </p:sp>
      <p:sp>
        <p:nvSpPr>
          <p:cNvPr id="305" name="Google Shape;305;p24"/>
          <p:cNvSpPr txBox="1"/>
          <p:nvPr/>
        </p:nvSpPr>
        <p:spPr>
          <a:xfrm>
            <a:off x="571500" y="3095625"/>
            <a:ext cx="5286375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The analysis revealed that </a:t>
            </a:r>
            <a:r>
              <a:rPr lang="en-US" sz="1500" b="1" i="0" u="none" strike="noStrike" cap="non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Debt-to-Income (DTI) Ratio</a:t>
            </a:r>
            <a:r>
              <a:rPr lang="en-US" sz="1500" b="0" i="0" u="none" strike="noStrike" cap="non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and </a:t>
            </a:r>
            <a:r>
              <a:rPr lang="en-US" sz="1500" b="1" i="0" u="none" strike="noStrike" cap="non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Credit Score</a:t>
            </a:r>
            <a:r>
              <a:rPr lang="en-US" sz="1500" b="0" i="0" u="none" strike="noStrike" cap="non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almost entirely govern approval decisions. Every approved applicant possessed a DTI ratio significantly lower than rejected counterparts.</a:t>
            </a:r>
            <a:endParaRPr/>
          </a:p>
        </p:txBody>
      </p:sp>
      <p:sp>
        <p:nvSpPr>
          <p:cNvPr id="306" name="Google Shape;306;p24"/>
          <p:cNvSpPr txBox="1"/>
          <p:nvPr/>
        </p:nvSpPr>
        <p:spPr>
          <a:xfrm>
            <a:off x="571500" y="4486275"/>
            <a:ext cx="5286375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This explains the dominance of tree-based models (XGBoost, Random Forest), which naturally excel at establishing hard cut-off thresholds for critical features. The model essentially learned the bank's underlying risk policies perfectly.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1" name="Google Shape;311;p25"/>
          <p:cNvGrpSpPr/>
          <p:nvPr/>
        </p:nvGrpSpPr>
        <p:grpSpPr>
          <a:xfrm>
            <a:off x="571500" y="571500"/>
            <a:ext cx="11049000" cy="752475"/>
            <a:chOff x="0" y="0"/>
            <a:chExt cx="11049000" cy="752475"/>
          </a:xfrm>
        </p:grpSpPr>
        <p:sp>
          <p:nvSpPr>
            <p:cNvPr id="312" name="Google Shape;312;p25"/>
            <p:cNvSpPr txBox="1"/>
            <p:nvPr/>
          </p:nvSpPr>
          <p:spPr>
            <a:xfrm>
              <a:off x="0" y="0"/>
              <a:ext cx="11049000" cy="666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 b="1">
                  <a:solidFill>
                    <a:srgbClr val="0F172A"/>
                  </a:solidFill>
                  <a:latin typeface="Poppins"/>
                  <a:ea typeface="Poppins"/>
                  <a:cs typeface="Poppins"/>
                  <a:sym typeface="Poppins"/>
                </a:rPr>
                <a:t>Skills Demonstrated</a:t>
              </a:r>
              <a:endParaRPr sz="3600" b="1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13" name="Google Shape;313;p25"/>
            <p:cNvSpPr/>
            <p:nvPr/>
          </p:nvSpPr>
          <p:spPr>
            <a:xfrm>
              <a:off x="0" y="714375"/>
              <a:ext cx="2190900" cy="38100"/>
            </a:xfrm>
            <a:prstGeom prst="rect">
              <a:avLst/>
            </a:prstGeom>
            <a:solidFill>
              <a:srgbClr val="1D4ED8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4" name="Google Shape;314;p25"/>
          <p:cNvGrpSpPr/>
          <p:nvPr/>
        </p:nvGrpSpPr>
        <p:grpSpPr>
          <a:xfrm>
            <a:off x="571500" y="1714500"/>
            <a:ext cx="3555900" cy="4572000"/>
            <a:chOff x="0" y="0"/>
            <a:chExt cx="3555900" cy="4572000"/>
          </a:xfrm>
        </p:grpSpPr>
        <p:sp>
          <p:nvSpPr>
            <p:cNvPr id="315" name="Google Shape;315;p25"/>
            <p:cNvSpPr/>
            <p:nvPr/>
          </p:nvSpPr>
          <p:spPr>
            <a:xfrm>
              <a:off x="0" y="0"/>
              <a:ext cx="3555900" cy="4572000"/>
            </a:xfrm>
            <a:prstGeom prst="roundRect">
              <a:avLst>
                <a:gd name="adj" fmla="val 4285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25"/>
            <p:cNvSpPr txBox="1"/>
            <p:nvPr/>
          </p:nvSpPr>
          <p:spPr>
            <a:xfrm>
              <a:off x="285750" y="338328"/>
              <a:ext cx="476400" cy="476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 dirty="0">
                <a:solidFill>
                  <a:srgbClr val="1D4ED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317" name="Google Shape;317;p25"/>
            <p:cNvSpPr txBox="1"/>
            <p:nvPr/>
          </p:nvSpPr>
          <p:spPr>
            <a:xfrm>
              <a:off x="904875" y="285750"/>
              <a:ext cx="2365200" cy="476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0">
                  <a:solidFill>
                    <a:srgbClr val="0F172A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Data Analysis</a:t>
              </a:r>
              <a:endParaRPr sz="2000" b="0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  <p:sp>
          <p:nvSpPr>
            <p:cNvPr id="318" name="Google Shape;318;p25"/>
            <p:cNvSpPr txBox="1"/>
            <p:nvPr/>
          </p:nvSpPr>
          <p:spPr>
            <a:xfrm>
              <a:off x="285750" y="952500"/>
              <a:ext cx="2984400" cy="3333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457200" lvl="0" indent="-317500" algn="l" rtl="0">
                <a:spcBef>
                  <a:spcPts val="0"/>
                </a:spcBef>
                <a:spcAft>
                  <a:spcPts val="0"/>
                </a:spcAft>
                <a:buClr>
                  <a:srgbClr val="475569"/>
                </a:buClr>
                <a:buSzPts val="1400"/>
                <a:buFont typeface="Lato"/>
                <a:buChar char="●"/>
              </a:pPr>
              <a:r>
                <a:rPr lang="en-US" sz="140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EDA &amp; Statistical Analysis</a:t>
              </a:r>
              <a:endParaRPr sz="14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marL="457200" lvl="0" indent="-317500" algn="l" rtl="0">
                <a:spcBef>
                  <a:spcPts val="1500"/>
                </a:spcBef>
                <a:spcAft>
                  <a:spcPts val="0"/>
                </a:spcAft>
                <a:buClr>
                  <a:srgbClr val="475569"/>
                </a:buClr>
                <a:buSzPts val="1400"/>
                <a:buFont typeface="Lato"/>
                <a:buChar char="●"/>
              </a:pPr>
              <a:r>
                <a:rPr lang="en-US" sz="140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Data Cleaning &amp; Preprocessing</a:t>
              </a:r>
              <a:endParaRPr sz="14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marL="457200" lvl="0" indent="-317500" algn="l" rtl="0">
                <a:spcBef>
                  <a:spcPts val="1500"/>
                </a:spcBef>
                <a:spcAft>
                  <a:spcPts val="0"/>
                </a:spcAft>
                <a:buClr>
                  <a:srgbClr val="475569"/>
                </a:buClr>
                <a:buSzPts val="1400"/>
                <a:buFont typeface="Lato"/>
                <a:buChar char="●"/>
              </a:pPr>
              <a:r>
                <a:rPr lang="en-US" sz="140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Missing Value Treatment</a:t>
              </a:r>
              <a:endParaRPr sz="14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marL="457200" lvl="0" indent="-317500" algn="l" rtl="0">
                <a:spcBef>
                  <a:spcPts val="1500"/>
                </a:spcBef>
                <a:spcAft>
                  <a:spcPts val="0"/>
                </a:spcAft>
                <a:buClr>
                  <a:srgbClr val="475569"/>
                </a:buClr>
                <a:buSzPts val="1400"/>
                <a:buFont typeface="Lato"/>
                <a:buChar char="●"/>
              </a:pPr>
              <a:r>
                <a:rPr lang="en-US" sz="140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Feature Engineering &amp; Scaling</a:t>
              </a:r>
              <a:endParaRPr sz="14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marL="457200" lvl="0" indent="-317500" algn="l" rtl="0">
                <a:spcBef>
                  <a:spcPts val="1500"/>
                </a:spcBef>
                <a:spcAft>
                  <a:spcPts val="0"/>
                </a:spcAft>
                <a:buClr>
                  <a:srgbClr val="475569"/>
                </a:buClr>
                <a:buSzPts val="1400"/>
                <a:buFont typeface="Lato"/>
                <a:buChar char="●"/>
              </a:pPr>
              <a:r>
                <a:rPr lang="en-US" sz="140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Categorical Encoding</a:t>
              </a:r>
              <a:endParaRPr sz="14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319" name="Google Shape;319;p25"/>
          <p:cNvGrpSpPr/>
          <p:nvPr/>
        </p:nvGrpSpPr>
        <p:grpSpPr>
          <a:xfrm>
            <a:off x="4317968" y="1714500"/>
            <a:ext cx="3555900" cy="4572000"/>
            <a:chOff x="0" y="0"/>
            <a:chExt cx="3555900" cy="4572000"/>
          </a:xfrm>
        </p:grpSpPr>
        <p:sp>
          <p:nvSpPr>
            <p:cNvPr id="320" name="Google Shape;320;p25"/>
            <p:cNvSpPr/>
            <p:nvPr/>
          </p:nvSpPr>
          <p:spPr>
            <a:xfrm>
              <a:off x="0" y="0"/>
              <a:ext cx="3555900" cy="4572000"/>
            </a:xfrm>
            <a:prstGeom prst="roundRect">
              <a:avLst>
                <a:gd name="adj" fmla="val 4285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25"/>
            <p:cNvSpPr txBox="1"/>
            <p:nvPr/>
          </p:nvSpPr>
          <p:spPr>
            <a:xfrm>
              <a:off x="285750" y="338328"/>
              <a:ext cx="476400" cy="476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 dirty="0">
                <a:solidFill>
                  <a:srgbClr val="10B981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322" name="Google Shape;322;p25"/>
            <p:cNvSpPr txBox="1"/>
            <p:nvPr/>
          </p:nvSpPr>
          <p:spPr>
            <a:xfrm>
              <a:off x="904875" y="285750"/>
              <a:ext cx="2365200" cy="476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0">
                  <a:solidFill>
                    <a:srgbClr val="0F172A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Machine Learning</a:t>
              </a:r>
              <a:endParaRPr sz="2000" b="0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  <p:sp>
          <p:nvSpPr>
            <p:cNvPr id="323" name="Google Shape;323;p25"/>
            <p:cNvSpPr txBox="1"/>
            <p:nvPr/>
          </p:nvSpPr>
          <p:spPr>
            <a:xfrm>
              <a:off x="285750" y="952500"/>
              <a:ext cx="2984400" cy="3333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457200" lvl="0" indent="-317500" algn="l" rtl="0">
                <a:spcBef>
                  <a:spcPts val="0"/>
                </a:spcBef>
                <a:spcAft>
                  <a:spcPts val="0"/>
                </a:spcAft>
                <a:buClr>
                  <a:srgbClr val="475569"/>
                </a:buClr>
                <a:buSzPts val="1400"/>
                <a:buFont typeface="Lato"/>
                <a:buChar char="●"/>
              </a:pPr>
              <a:r>
                <a:rPr lang="en-US" sz="140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Classification Algorithms</a:t>
              </a:r>
              <a:endParaRPr sz="14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marL="457200" lvl="0" indent="-317500" algn="l" rtl="0">
                <a:spcBef>
                  <a:spcPts val="1500"/>
                </a:spcBef>
                <a:spcAft>
                  <a:spcPts val="0"/>
                </a:spcAft>
                <a:buClr>
                  <a:srgbClr val="475569"/>
                </a:buClr>
                <a:buSzPts val="1400"/>
                <a:buFont typeface="Lato"/>
                <a:buChar char="●"/>
              </a:pPr>
              <a:r>
                <a:rPr lang="en-US" sz="140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Model Selection</a:t>
              </a:r>
              <a:endParaRPr sz="14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marL="457200" lvl="0" indent="-317500" algn="l" rtl="0">
                <a:spcBef>
                  <a:spcPts val="1500"/>
                </a:spcBef>
                <a:spcAft>
                  <a:spcPts val="0"/>
                </a:spcAft>
                <a:buClr>
                  <a:srgbClr val="475569"/>
                </a:buClr>
                <a:buSzPts val="1400"/>
                <a:buFont typeface="Lato"/>
                <a:buChar char="●"/>
              </a:pPr>
              <a:r>
                <a:rPr lang="en-US" sz="140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Hyperparameter Tuning</a:t>
              </a:r>
              <a:endParaRPr sz="14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marL="457200" lvl="0" indent="-317500" algn="l" rtl="0">
                <a:spcBef>
                  <a:spcPts val="1500"/>
                </a:spcBef>
                <a:spcAft>
                  <a:spcPts val="0"/>
                </a:spcAft>
                <a:buClr>
                  <a:srgbClr val="475569"/>
                </a:buClr>
                <a:buSzPts val="1400"/>
                <a:buFont typeface="Lato"/>
                <a:buChar char="●"/>
              </a:pPr>
              <a:r>
                <a:rPr lang="en-US" sz="140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Cross-Validation</a:t>
              </a:r>
              <a:endParaRPr sz="14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marL="457200" lvl="0" indent="-317500" algn="l" rtl="0">
                <a:spcBef>
                  <a:spcPts val="1500"/>
                </a:spcBef>
                <a:spcAft>
                  <a:spcPts val="0"/>
                </a:spcAft>
                <a:buClr>
                  <a:srgbClr val="475569"/>
                </a:buClr>
                <a:buSzPts val="1400"/>
                <a:buFont typeface="Lato"/>
                <a:buChar char="●"/>
              </a:pPr>
              <a:r>
                <a:rPr lang="en-US" sz="140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Model Evaluation</a:t>
              </a:r>
              <a:endParaRPr sz="14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324" name="Google Shape;324;p25"/>
          <p:cNvGrpSpPr/>
          <p:nvPr/>
        </p:nvGrpSpPr>
        <p:grpSpPr>
          <a:xfrm>
            <a:off x="8064437" y="1714500"/>
            <a:ext cx="3555900" cy="4572000"/>
            <a:chOff x="0" y="0"/>
            <a:chExt cx="3555900" cy="4572000"/>
          </a:xfrm>
        </p:grpSpPr>
        <p:sp>
          <p:nvSpPr>
            <p:cNvPr id="325" name="Google Shape;325;p25"/>
            <p:cNvSpPr/>
            <p:nvPr/>
          </p:nvSpPr>
          <p:spPr>
            <a:xfrm>
              <a:off x="0" y="0"/>
              <a:ext cx="3555900" cy="4572000"/>
            </a:xfrm>
            <a:prstGeom prst="roundRect">
              <a:avLst>
                <a:gd name="adj" fmla="val 4285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25"/>
            <p:cNvSpPr txBox="1"/>
            <p:nvPr/>
          </p:nvSpPr>
          <p:spPr>
            <a:xfrm>
              <a:off x="904875" y="285750"/>
              <a:ext cx="2365200" cy="476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0">
                  <a:solidFill>
                    <a:srgbClr val="0F172A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Tools &amp; Workflow</a:t>
              </a:r>
              <a:endParaRPr sz="2000" b="0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  <p:sp>
          <p:nvSpPr>
            <p:cNvPr id="328" name="Google Shape;328;p25"/>
            <p:cNvSpPr txBox="1"/>
            <p:nvPr/>
          </p:nvSpPr>
          <p:spPr>
            <a:xfrm>
              <a:off x="285750" y="952500"/>
              <a:ext cx="2984400" cy="3333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457200" lvl="0" indent="-317500" algn="l" rtl="0">
                <a:spcBef>
                  <a:spcPts val="0"/>
                </a:spcBef>
                <a:spcAft>
                  <a:spcPts val="0"/>
                </a:spcAft>
                <a:buClr>
                  <a:srgbClr val="475569"/>
                </a:buClr>
                <a:buSzPts val="1400"/>
                <a:buFont typeface="Lato"/>
                <a:buChar char="●"/>
              </a:pPr>
              <a:r>
                <a:rPr lang="en-US" sz="140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Python, Pandas, NumPy</a:t>
              </a:r>
              <a:endParaRPr sz="14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marL="457200" lvl="0" indent="-317500" algn="l" rtl="0">
                <a:spcBef>
                  <a:spcPts val="1500"/>
                </a:spcBef>
                <a:spcAft>
                  <a:spcPts val="0"/>
                </a:spcAft>
                <a:buClr>
                  <a:srgbClr val="475569"/>
                </a:buClr>
                <a:buSzPts val="1400"/>
                <a:buFont typeface="Lato"/>
                <a:buChar char="●"/>
              </a:pPr>
              <a:r>
                <a:rPr lang="en-US" sz="140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Matplotlib &amp; Seaborn</a:t>
              </a:r>
              <a:endParaRPr sz="14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marL="457200" lvl="0" indent="-317500" algn="l" rtl="0">
                <a:spcBef>
                  <a:spcPts val="1500"/>
                </a:spcBef>
                <a:spcAft>
                  <a:spcPts val="0"/>
                </a:spcAft>
                <a:buClr>
                  <a:srgbClr val="475569"/>
                </a:buClr>
                <a:buSzPts val="1400"/>
                <a:buFont typeface="Lato"/>
                <a:buChar char="●"/>
              </a:pPr>
              <a:r>
                <a:rPr lang="en-US" sz="140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Scikit-Learn &amp; XGBoost</a:t>
              </a:r>
              <a:endParaRPr sz="14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marL="457200" lvl="0" indent="-317500" algn="l" rtl="0">
                <a:spcBef>
                  <a:spcPts val="1500"/>
                </a:spcBef>
                <a:spcAft>
                  <a:spcPts val="0"/>
                </a:spcAft>
                <a:buClr>
                  <a:srgbClr val="475569"/>
                </a:buClr>
                <a:buSzPts val="1400"/>
                <a:buFont typeface="Lato"/>
                <a:buChar char="●"/>
              </a:pPr>
              <a:r>
                <a:rPr lang="en-US" sz="140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Joblib Serialization</a:t>
              </a:r>
              <a:endParaRPr sz="14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marL="457200" lvl="0" indent="-317500" algn="l" rtl="0">
                <a:spcBef>
                  <a:spcPts val="1500"/>
                </a:spcBef>
                <a:spcAft>
                  <a:spcPts val="0"/>
                </a:spcAft>
                <a:buClr>
                  <a:srgbClr val="475569"/>
                </a:buClr>
                <a:buSzPts val="1400"/>
                <a:buFont typeface="Lato"/>
                <a:buChar char="●"/>
              </a:pPr>
              <a:r>
                <a:rPr lang="en-US" sz="140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Jupyter &amp; ML Pipelines</a:t>
              </a:r>
              <a:endParaRPr sz="14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3" name="Google Shape;333;p26"/>
          <p:cNvGrpSpPr/>
          <p:nvPr/>
        </p:nvGrpSpPr>
        <p:grpSpPr>
          <a:xfrm>
            <a:off x="571500" y="571500"/>
            <a:ext cx="11049000" cy="752475"/>
            <a:chOff x="0" y="0"/>
            <a:chExt cx="11049000" cy="752475"/>
          </a:xfrm>
        </p:grpSpPr>
        <p:sp>
          <p:nvSpPr>
            <p:cNvPr id="334" name="Google Shape;334;p26"/>
            <p:cNvSpPr txBox="1"/>
            <p:nvPr/>
          </p:nvSpPr>
          <p:spPr>
            <a:xfrm>
              <a:off x="0" y="0"/>
              <a:ext cx="11049000" cy="666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300" b="1">
                  <a:solidFill>
                    <a:srgbClr val="0F172A"/>
                  </a:solidFill>
                  <a:latin typeface="Poppins"/>
                  <a:ea typeface="Poppins"/>
                  <a:cs typeface="Poppins"/>
                  <a:sym typeface="Poppins"/>
                </a:rPr>
                <a:t>Conclusion</a:t>
              </a:r>
              <a:endParaRPr sz="3300" b="1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35" name="Google Shape;335;p26"/>
            <p:cNvSpPr/>
            <p:nvPr/>
          </p:nvSpPr>
          <p:spPr>
            <a:xfrm>
              <a:off x="0" y="714375"/>
              <a:ext cx="2190900" cy="38100"/>
            </a:xfrm>
            <a:prstGeom prst="rect">
              <a:avLst/>
            </a:prstGeom>
            <a:solidFill>
              <a:srgbClr val="1D4ED8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6" name="Google Shape;336;p26"/>
          <p:cNvGrpSpPr/>
          <p:nvPr/>
        </p:nvGrpSpPr>
        <p:grpSpPr>
          <a:xfrm>
            <a:off x="952500" y="2286000"/>
            <a:ext cx="10096500" cy="2286000"/>
            <a:chOff x="381000" y="381000"/>
            <a:chExt cx="10096500" cy="2286000"/>
          </a:xfrm>
        </p:grpSpPr>
        <p:sp>
          <p:nvSpPr>
            <p:cNvPr id="338" name="Google Shape;338;p26"/>
            <p:cNvSpPr txBox="1"/>
            <p:nvPr/>
          </p:nvSpPr>
          <p:spPr>
            <a:xfrm>
              <a:off x="381000" y="439420"/>
              <a:ext cx="571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 dirty="0">
                <a:solidFill>
                  <a:srgbClr val="1D4ED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339" name="Google Shape;339;p26"/>
            <p:cNvSpPr txBox="1"/>
            <p:nvPr/>
          </p:nvSpPr>
          <p:spPr>
            <a:xfrm>
              <a:off x="1143000" y="381000"/>
              <a:ext cx="9334500" cy="2286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rgbClr val="0F172A"/>
                  </a:solidFill>
                  <a:latin typeface="Lato"/>
                  <a:ea typeface="Lato"/>
                  <a:cs typeface="Lato"/>
                  <a:sym typeface="Lato"/>
                </a:rPr>
                <a:t>CreditWise</a:t>
              </a:r>
              <a:r>
                <a:rPr lang="en-US" sz="1800">
                  <a:solidFill>
                    <a:srgbClr val="1E293B"/>
                  </a:solidFill>
                  <a:latin typeface="Lato"/>
                  <a:ea typeface="Lato"/>
                  <a:cs typeface="Lato"/>
                  <a:sym typeface="Lato"/>
                </a:rPr>
                <a:t> delivers a complete machine learning solution for loan approval prediction — spanning preprocessing, feature engineering, model comparison, evaluation, and pipeline deployment.</a:t>
              </a:r>
              <a:endParaRPr sz="1800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marL="0" lvl="0" indent="0" algn="l" rtl="0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1E293B"/>
                  </a:solidFill>
                  <a:latin typeface="Lato"/>
                  <a:ea typeface="Lato"/>
                  <a:cs typeface="Lato"/>
                  <a:sym typeface="Lato"/>
                </a:rPr>
                <a:t>By comparing multiple algorithms and optimizing performance, the project produces a </a:t>
              </a:r>
              <a:r>
                <a:rPr lang="en-US" sz="1800" b="1">
                  <a:solidFill>
                    <a:srgbClr val="1D4ED8"/>
                  </a:solidFill>
                  <a:latin typeface="Lato"/>
                  <a:ea typeface="Lato"/>
                  <a:cs typeface="Lato"/>
                  <a:sym typeface="Lato"/>
                </a:rPr>
                <a:t>robust, explainable system</a:t>
              </a:r>
              <a:r>
                <a:rPr lang="en-US" sz="1800">
                  <a:solidFill>
                    <a:srgbClr val="1E293B"/>
                  </a:solidFill>
                  <a:latin typeface="Lato"/>
                  <a:ea typeface="Lato"/>
                  <a:cs typeface="Lato"/>
                  <a:sym typeface="Lato"/>
                </a:rPr>
                <a:t> that can assist financial institutions in making informed, data-driven lending decisions.</a:t>
              </a:r>
              <a:endParaRPr sz="1800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340" name="Google Shape;340;p26"/>
          <p:cNvGrpSpPr/>
          <p:nvPr/>
        </p:nvGrpSpPr>
        <p:grpSpPr>
          <a:xfrm>
            <a:off x="571500" y="5524500"/>
            <a:ext cx="10668000" cy="835025"/>
            <a:chOff x="0" y="0"/>
            <a:chExt cx="10668000" cy="835025"/>
          </a:xfrm>
        </p:grpSpPr>
        <p:sp>
          <p:nvSpPr>
            <p:cNvPr id="341" name="Google Shape;341;p26"/>
            <p:cNvSpPr txBox="1"/>
            <p:nvPr/>
          </p:nvSpPr>
          <p:spPr>
            <a:xfrm>
              <a:off x="0" y="0"/>
              <a:ext cx="9525000" cy="76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0" i="1">
                  <a:solidFill>
                    <a:srgbClr val="1D4ED8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Thank You</a:t>
              </a:r>
              <a:endParaRPr sz="2800" b="0" i="1">
                <a:solidFill>
                  <a:srgbClr val="1D4ED8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  <p:sp>
          <p:nvSpPr>
            <p:cNvPr id="342" name="Google Shape;342;p26"/>
            <p:cNvSpPr txBox="1"/>
            <p:nvPr/>
          </p:nvSpPr>
          <p:spPr>
            <a:xfrm>
              <a:off x="9906000" y="73025"/>
              <a:ext cx="762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0" dirty="0">
                <a:solidFill>
                  <a:srgbClr val="10B981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769</Words>
  <Application>Microsoft Office PowerPoint</Application>
  <PresentationFormat>Widescreen</PresentationFormat>
  <Paragraphs>116</Paragraphs>
  <Slides>14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Material Icons</vt:lpstr>
      <vt:lpstr>Calibri</vt:lpstr>
      <vt:lpstr>Poppins SemiBold</vt:lpstr>
      <vt:lpstr>Poppins</vt:lpstr>
      <vt:lpstr>Lato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hk821064</cp:lastModifiedBy>
  <cp:revision>3</cp:revision>
  <dcterms:modified xsi:type="dcterms:W3CDTF">2026-06-20T02:25:07Z</dcterms:modified>
</cp:coreProperties>
</file>